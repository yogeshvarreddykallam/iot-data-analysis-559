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95"/>
    <p:restoredTop sz="94604"/>
  </p:normalViewPr>
  <p:slideViewPr>
    <p:cSldViewPr snapToGrid="0">
      <p:cViewPr>
        <p:scale>
          <a:sx n="87" d="100"/>
          <a:sy n="87" d="100"/>
        </p:scale>
        <p:origin x="1384" y="14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EC3F9-0A21-8743-80C1-25BDE6C59329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42AB9F-8947-674D-8566-EA45FDF02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53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42AB9F-8947-674D-8566-EA45FDF02D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679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42AB9F-8947-674D-8566-EA45FDF02D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37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8B2A9-7866-92D8-1742-E1E30D990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40F95-F587-43EE-2727-791ECF171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11941-40B7-567E-9BB3-FEA6DF29D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D5E7D-66F4-E5EC-302C-A908A04AB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42AB9F-8947-674D-8566-EA45FDF02D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92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E892A-D198-09F7-1F42-19B796AF5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1CA61B-A296-A6E6-B20E-D422D73FE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AB834-E291-78A4-66D6-531B0D7DC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AB480-7E51-1711-8C8A-7F2AED499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42AB9F-8947-674D-8566-EA45FDF02D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16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54C17-D29D-6B41-3DD9-C9A58951B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5DB0F8-7600-22D9-8EDE-850D9A656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01958-1ACA-CD4D-4DCB-193A2EEEF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7DA8-7370-5C48-A405-036516A4E4D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EDCD7-A95F-8B33-D620-50B27FFA6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BC7B1-0134-CF51-00E0-125CD48E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648E-6344-6645-9762-911CFA55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38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41D22-FCC7-F64F-7891-8E9B6CF6B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E1409-DB6B-DBF0-31C7-C67B4D64D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A789F-1008-7D76-886E-87BE85726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7DA8-7370-5C48-A405-036516A4E4D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8C61B-727C-B4F2-EEB0-AB9AEC78B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A5939-C07F-8116-4BA2-47C3D4299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648E-6344-6645-9762-911CFA55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53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EA2DC-2B88-4A83-65B0-2BCFCE2BF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7F867-EB03-C0A7-0783-5A68E926C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0AB0D-316A-0060-E7F9-1943F1C50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7DA8-7370-5C48-A405-036516A4E4D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8D339-DA51-CD9D-7431-626FED5B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75B03-226D-E873-FB0B-B406677D0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648E-6344-6645-9762-911CFA55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52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64A3A-6C8E-AA01-11E1-6DA0FC49C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77C61-3473-E44E-BDC0-9478EE5F9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A3104-3FA1-3E83-5026-171D82B55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3DD10-7A25-B32F-25D0-00876CBB9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7DA8-7370-5C48-A405-036516A4E4D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C4863-6320-F036-295D-CEACB5471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5263B-551E-387D-0718-E6BB2FD78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648E-6344-6645-9762-911CFA55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67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E33F-E7C2-4FFA-6DF6-6589C1BA2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A0C97-6A3A-3C54-079C-2DB111066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777417-C8AF-A18E-57A8-A09A9FA14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073201-67F1-2D0A-257E-439741A73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5814A0-B916-2FA9-8E9C-EAF706985C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9F610E-085B-133F-0854-F87839EC8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7DA8-7370-5C48-A405-036516A4E4D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B83B60-DC33-6914-AEE3-1BEBF65E9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159D7-EC66-6B27-CB26-62B2A96E6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648E-6344-6645-9762-911CFA55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350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DA854-12FB-396A-02BD-230E2D3C2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BDFA63-B2DF-2932-9E53-CC6C8F200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7DA8-7370-5C48-A405-036516A4E4D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015F99-0C34-052E-D73F-0D7F2702F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05E9A-E4A5-C954-AE80-EEA2F7976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648E-6344-6645-9762-911CFA55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56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FDE289-3FBA-7323-48F0-B82DBA03B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7DA8-7370-5C48-A405-036516A4E4D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9569B-D351-38B8-C194-1DCC380A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E98F8-EEBF-A604-A2CD-D3142F1BA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648E-6344-6645-9762-911CFA55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64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06B30-8A8D-EA84-3A5A-6CDE24A3D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D8060-75C8-9CD3-0D6B-31C0F19CB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30F8A-4648-132F-6758-2AE1A6C60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89EF3-D513-3843-F229-44B3FAF86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7DA8-7370-5C48-A405-036516A4E4D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BCFC7-354A-E7AE-528D-714B2A9E8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25820-F67A-B5CF-33D0-CC4405CF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648E-6344-6645-9762-911CFA55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9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298EC-DA67-6C89-1243-306D434E0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D064F8-3785-5C05-B35A-5F3089BA67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7BACE-15A9-1582-0AEE-BF5D1DD93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C27C1-BA70-6D9C-D4FF-DCCF49D13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7DA8-7370-5C48-A405-036516A4E4D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F70A2-8843-6E0E-85F1-566B93B79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C0A1D-CB0F-005F-070D-CB25836AC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648E-6344-6645-9762-911CFA55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18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516BC-54A2-467F-F647-656182EE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14FA53-CABF-B7DC-B71E-17C0BD72E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6BF89-C9AC-8CA0-41EB-42B3A22E7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7DA8-7370-5C48-A405-036516A4E4D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E300B-A84D-46C0-0CDA-CF761FBCD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32ADF-25E2-24F9-A96D-2495E9E3D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648E-6344-6645-9762-911CFA55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35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37ED84-B2B1-6E6D-CFAC-87DCD7B33C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24A54-7B0C-C3D6-5A66-20FADE4CDA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DEAE-8493-9D4E-32A5-222714C2F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7DA8-7370-5C48-A405-036516A4E4D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B05E7-DCD9-FE6A-3B8F-685951AAD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D48EA-EA46-A031-9FCF-C5776EC46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648E-6344-6645-9762-911CFA55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73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3C50CF-0775-AEA5-F0E2-9E9DCE67A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112D9-3296-C17C-0137-02BBE5172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57CBD-A84D-D29F-AB30-B26E4EFE54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57DA8-7370-5C48-A405-036516A4E4D7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00AF3-ADBE-9532-B847-16977182A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96E59-BB0E-2FB3-B6E2-C37C40FD79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7648E-6344-6645-9762-911CFA55F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5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5D39-3FEC-2CB7-CDE4-A09B083DF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Autofit/>
          </a:bodyPr>
          <a:lstStyle/>
          <a:p>
            <a:r>
              <a:rPr lang="en-US" sz="4000" dirty="0"/>
              <a:t>Masked Time-Series Transformers for Wrist IMU Motion Forecasting (CAPTURE‑24)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A35FB-072D-67BD-2FE0-CB357E41E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8" y="2733565"/>
            <a:ext cx="9802762" cy="1655762"/>
          </a:xfrm>
        </p:spPr>
        <p:txBody>
          <a:bodyPr>
            <a:normAutofit/>
          </a:bodyPr>
          <a:lstStyle/>
          <a:p>
            <a:r>
              <a:rPr lang="en-US" b="1" dirty="0"/>
              <a:t>Team: </a:t>
            </a:r>
          </a:p>
          <a:p>
            <a:r>
              <a:rPr lang="en-US" dirty="0"/>
              <a:t>Yogeshvar Reddy Kallam, Saphalya Peta, Joseph Mani</a:t>
            </a:r>
          </a:p>
        </p:txBody>
      </p:sp>
      <p:pic>
        <p:nvPicPr>
          <p:cNvPr id="7" name="Picture 6" descr="A diagram of a number and a line&#10;&#10;AI-generated content may be incorrect.">
            <a:extLst>
              <a:ext uri="{FF2B5EF4-FFF2-40B4-BE49-F238E27FC236}">
                <a16:creationId xmlns:a16="http://schemas.microsoft.com/office/drawing/2014/main" id="{F162E3A0-4416-5713-E990-688692258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501" y="4533900"/>
            <a:ext cx="7581900" cy="2324100"/>
          </a:xfrm>
          <a:prstGeom prst="rect">
            <a:avLst/>
          </a:prstGeom>
        </p:spPr>
      </p:pic>
      <p:sp>
        <p:nvSpPr>
          <p:cNvPr id="8" name="Oval Callout 7">
            <a:extLst>
              <a:ext uri="{FF2B5EF4-FFF2-40B4-BE49-F238E27FC236}">
                <a16:creationId xmlns:a16="http://schemas.microsoft.com/office/drawing/2014/main" id="{5B741AD3-09DF-B4FD-B2F0-01024033D7F8}"/>
              </a:ext>
            </a:extLst>
          </p:cNvPr>
          <p:cNvSpPr/>
          <p:nvPr/>
        </p:nvSpPr>
        <p:spPr>
          <a:xfrm>
            <a:off x="8214852" y="4164568"/>
            <a:ext cx="2070918" cy="695436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F2E92-A9BD-52BA-17AA-4DC3C214AA54}"/>
              </a:ext>
            </a:extLst>
          </p:cNvPr>
          <p:cNvSpPr txBox="1"/>
          <p:nvPr/>
        </p:nvSpPr>
        <p:spPr>
          <a:xfrm>
            <a:off x="8413954" y="4327620"/>
            <a:ext cx="1672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SSL -&gt; Masked</a:t>
            </a:r>
          </a:p>
        </p:txBody>
      </p:sp>
    </p:spTree>
    <p:extLst>
      <p:ext uri="{BB962C8B-B14F-4D97-AF65-F5344CB8AC3E}">
        <p14:creationId xmlns:p14="http://schemas.microsoft.com/office/powerpoint/2010/main" val="3348857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62855-2193-F44E-F4DC-3D937D114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4672" y="2179586"/>
            <a:ext cx="641309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Can BERT-style masked modeling on wrist IMU learn representations that improve short-horizon motion forecasting and activity recognition with minimal labeled data in free‑living conditions?</a:t>
            </a:r>
          </a:p>
        </p:txBody>
      </p:sp>
      <p:pic>
        <p:nvPicPr>
          <p:cNvPr id="5" name="Picture 4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3B3E27D6-B738-32AC-9043-3BAC2517E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38" y="184151"/>
            <a:ext cx="3632200" cy="2832100"/>
          </a:xfrm>
          <a:prstGeom prst="rect">
            <a:avLst/>
          </a:prstGeom>
        </p:spPr>
      </p:pic>
      <p:pic>
        <p:nvPicPr>
          <p:cNvPr id="7" name="Picture 6" descr="A diagram of a smart watch&#10;&#10;AI-generated content may be incorrect.">
            <a:extLst>
              <a:ext uri="{FF2B5EF4-FFF2-40B4-BE49-F238E27FC236}">
                <a16:creationId xmlns:a16="http://schemas.microsoft.com/office/drawing/2014/main" id="{63ED979D-A286-023E-5630-634E1176D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38" y="3429000"/>
            <a:ext cx="3632200" cy="28321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9F6C12C-3963-78E9-6A66-F88574580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5564" y="691791"/>
            <a:ext cx="327414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Core Question</a:t>
            </a:r>
            <a:br>
              <a:rPr lang="en-US" sz="36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86918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7D716-21DC-4F3E-7DDD-6D9064779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131"/>
            <a:ext cx="2627671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83DD6-560F-53F5-C62F-144FDAD77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4110" cy="4351338"/>
          </a:xfrm>
        </p:spPr>
        <p:txBody>
          <a:bodyPr>
            <a:normAutofit/>
          </a:bodyPr>
          <a:lstStyle/>
          <a:p>
            <a:r>
              <a:rPr lang="en-US" dirty="0"/>
              <a:t>Proactive assistance and safety alerts in wearables (fall-risk, fatigue, step prediction).​</a:t>
            </a:r>
          </a:p>
          <a:p>
            <a:r>
              <a:rPr lang="en-US" dirty="0"/>
              <a:t>Smoother AR/VR locomotion via next‑motion prediction on‑device.​</a:t>
            </a:r>
          </a:p>
          <a:p>
            <a:r>
              <a:rPr lang="en-US" dirty="0"/>
              <a:t>Health analytics with less labeling effort using self‑supervised pretraining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blue and white line drawing of a sad face and clock&#10;&#10;AI-generated content may be incorrect.">
            <a:extLst>
              <a:ext uri="{FF2B5EF4-FFF2-40B4-BE49-F238E27FC236}">
                <a16:creationId xmlns:a16="http://schemas.microsoft.com/office/drawing/2014/main" id="{A721219D-C852-BA0A-9EF0-5C80ABD7F9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879" t="-4041" r="37056" b="-1"/>
          <a:stretch>
            <a:fillRect/>
          </a:stretch>
        </p:blipFill>
        <p:spPr>
          <a:xfrm>
            <a:off x="10069898" y="529625"/>
            <a:ext cx="1283902" cy="1202034"/>
          </a:xfrm>
          <a:prstGeom prst="rect">
            <a:avLst/>
          </a:prstGeom>
        </p:spPr>
      </p:pic>
      <p:pic>
        <p:nvPicPr>
          <p:cNvPr id="6" name="Picture 5" descr="A blue and white line drawing of a sad face and clock&#10;&#10;AI-generated content may be incorrect.">
            <a:extLst>
              <a:ext uri="{FF2B5EF4-FFF2-40B4-BE49-F238E27FC236}">
                <a16:creationId xmlns:a16="http://schemas.microsoft.com/office/drawing/2014/main" id="{09972E44-E619-A10B-952C-68A22FC767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748"/>
          <a:stretch>
            <a:fillRect/>
          </a:stretch>
        </p:blipFill>
        <p:spPr>
          <a:xfrm>
            <a:off x="8021806" y="2341832"/>
            <a:ext cx="1283902" cy="1295054"/>
          </a:xfrm>
          <a:prstGeom prst="rect">
            <a:avLst/>
          </a:prstGeom>
        </p:spPr>
      </p:pic>
      <p:pic>
        <p:nvPicPr>
          <p:cNvPr id="8" name="Picture 7" descr="A smart watch with text and a check mark&#10;&#10;AI-generated content may be incorrect.">
            <a:extLst>
              <a:ext uri="{FF2B5EF4-FFF2-40B4-BE49-F238E27FC236}">
                <a16:creationId xmlns:a16="http://schemas.microsoft.com/office/drawing/2014/main" id="{E25EDD6C-71AC-C62E-37A1-4FC5D2AA45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891"/>
          <a:stretch>
            <a:fillRect/>
          </a:stretch>
        </p:blipFill>
        <p:spPr>
          <a:xfrm>
            <a:off x="10237322" y="2266904"/>
            <a:ext cx="1116478" cy="1369981"/>
          </a:xfrm>
          <a:prstGeom prst="rect">
            <a:avLst/>
          </a:prstGeom>
        </p:spPr>
      </p:pic>
      <p:pic>
        <p:nvPicPr>
          <p:cNvPr id="10" name="Picture 9" descr="A blue and white line drawing of a sad face and clock&#10;&#10;AI-generated content may be incorrect.">
            <a:extLst>
              <a:ext uri="{FF2B5EF4-FFF2-40B4-BE49-F238E27FC236}">
                <a16:creationId xmlns:a16="http://schemas.microsoft.com/office/drawing/2014/main" id="{44861743-2EC0-952B-E8EA-7BD0356B8F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8686" r="78360"/>
          <a:stretch>
            <a:fillRect/>
          </a:stretch>
        </p:blipFill>
        <p:spPr>
          <a:xfrm>
            <a:off x="8021806" y="173989"/>
            <a:ext cx="1283902" cy="1651636"/>
          </a:xfrm>
          <a:prstGeom prst="rect">
            <a:avLst/>
          </a:prstGeom>
        </p:spPr>
      </p:pic>
      <p:pic>
        <p:nvPicPr>
          <p:cNvPr id="14" name="Picture 13" descr="A screenshot of a device&#10;&#10;AI-generated content may be incorrect.">
            <a:extLst>
              <a:ext uri="{FF2B5EF4-FFF2-40B4-BE49-F238E27FC236}">
                <a16:creationId xmlns:a16="http://schemas.microsoft.com/office/drawing/2014/main" id="{A0A0DF46-9796-9D96-DF05-4A621567D5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122" t="30968" r="4480" b="23226"/>
          <a:stretch>
            <a:fillRect/>
          </a:stretch>
        </p:blipFill>
        <p:spPr>
          <a:xfrm>
            <a:off x="7005556" y="4143747"/>
            <a:ext cx="4996716" cy="250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14881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1922F-6619-9AB1-D63F-E42E94B3E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A873B-D1F1-194C-6005-954B02575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2328" y="691791"/>
            <a:ext cx="2627671" cy="1325563"/>
          </a:xfrm>
        </p:spPr>
        <p:txBody>
          <a:bodyPr>
            <a:normAutofit/>
          </a:bodyPr>
          <a:lstStyle/>
          <a:p>
            <a:pPr algn="r"/>
            <a:r>
              <a:rPr lang="en-US" sz="3600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A24F9-18E6-22F0-35EB-CA4801116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5607" y="2017354"/>
            <a:ext cx="54741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CAPTURE‑24 wrist accelerometer (100 Hz), Python/</a:t>
            </a:r>
            <a:r>
              <a:rPr lang="en-US" dirty="0" err="1"/>
              <a:t>PyTorch</a:t>
            </a:r>
            <a:r>
              <a:rPr lang="en-US" dirty="0"/>
              <a:t> on macOS; group‑held‑out splits; optional Android data capture; export ONNX for mobile inference tests.</a:t>
            </a:r>
          </a:p>
        </p:txBody>
      </p:sp>
      <p:pic>
        <p:nvPicPr>
          <p:cNvPr id="7" name="Picture 6" descr="A screenshot of a device&#10;&#10;AI-generated content may be incorrect.">
            <a:extLst>
              <a:ext uri="{FF2B5EF4-FFF2-40B4-BE49-F238E27FC236}">
                <a16:creationId xmlns:a16="http://schemas.microsoft.com/office/drawing/2014/main" id="{483FF5A4-434B-D0A5-9CC0-7EDB630CCA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16" t="39992" r="57169" b="30753"/>
          <a:stretch>
            <a:fillRect/>
          </a:stretch>
        </p:blipFill>
        <p:spPr>
          <a:xfrm>
            <a:off x="1305592" y="245896"/>
            <a:ext cx="3311374" cy="2697446"/>
          </a:xfrm>
          <a:prstGeom prst="rect">
            <a:avLst/>
          </a:prstGeom>
        </p:spPr>
      </p:pic>
      <p:pic>
        <p:nvPicPr>
          <p:cNvPr id="11" name="Picture 10" descr="A screenshot of a device&#10;&#10;AI-generated content may be incorrect.">
            <a:extLst>
              <a:ext uri="{FF2B5EF4-FFF2-40B4-BE49-F238E27FC236}">
                <a16:creationId xmlns:a16="http://schemas.microsoft.com/office/drawing/2014/main" id="{AC47FDCA-1867-70A7-213B-E14DCA86D4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885" t="35914" r="6845" b="26451"/>
          <a:stretch>
            <a:fillRect/>
          </a:stretch>
        </p:blipFill>
        <p:spPr>
          <a:xfrm>
            <a:off x="1512069" y="3371062"/>
            <a:ext cx="2809208" cy="299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773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EB7D7-F02B-21BA-7458-0C4809818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D201-5F58-31DC-DAB4-54CB9660E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131"/>
            <a:ext cx="2977504" cy="1325563"/>
          </a:xfrm>
        </p:spPr>
        <p:txBody>
          <a:bodyPr>
            <a:normAutofit/>
          </a:bodyPr>
          <a:lstStyle/>
          <a:p>
            <a:r>
              <a:rPr lang="en-US" sz="3600" dirty="0"/>
              <a:t>MOCK graphs 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17209-7F7A-7088-E5B7-819102820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60" y="5815347"/>
            <a:ext cx="6061588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Forecasting error vs. horizon.</a:t>
            </a:r>
          </a:p>
          <a:p>
            <a:pPr marL="0" indent="0">
              <a:buNone/>
            </a:pPr>
            <a:r>
              <a:rPr lang="en-US" sz="1600" dirty="0"/>
              <a:t>Expecting SSL stays consistently lower, with widening gap beyond 0.5 s</a:t>
            </a:r>
          </a:p>
        </p:txBody>
      </p:sp>
      <p:pic>
        <p:nvPicPr>
          <p:cNvPr id="7" name="Picture 6" descr="A graph of a number of different types of forecasting&#10;&#10;AI-generated content may be incorrect.">
            <a:extLst>
              <a:ext uri="{FF2B5EF4-FFF2-40B4-BE49-F238E27FC236}">
                <a16:creationId xmlns:a16="http://schemas.microsoft.com/office/drawing/2014/main" id="{7EFF6EDD-2708-A7CA-8F0E-2BCA516AC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58874"/>
            <a:ext cx="4530213" cy="4530213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8055762-08BF-3068-01AD-842C38B95E37}"/>
              </a:ext>
            </a:extLst>
          </p:cNvPr>
          <p:cNvSpPr txBox="1">
            <a:spLocks/>
          </p:cNvSpPr>
          <p:nvPr/>
        </p:nvSpPr>
        <p:spPr>
          <a:xfrm>
            <a:off x="6615436" y="5815346"/>
            <a:ext cx="547086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HAR accuracy vs. labeled fraction.</a:t>
            </a:r>
          </a:p>
          <a:p>
            <a:pPr marL="0" indent="0">
              <a:buNone/>
            </a:pPr>
            <a:r>
              <a:rPr lang="en-US" sz="1600" dirty="0"/>
              <a:t>Hoping SSL is notably better at low labels, converging near full data.</a:t>
            </a:r>
            <a:endParaRPr lang="en-US" sz="1200" dirty="0"/>
          </a:p>
        </p:txBody>
      </p:sp>
      <p:pic>
        <p:nvPicPr>
          <p:cNvPr id="15" name="Picture 14" descr="A graph of a performance&#10;&#10;AI-generated content may be incorrect.">
            <a:extLst>
              <a:ext uri="{FF2B5EF4-FFF2-40B4-BE49-F238E27FC236}">
                <a16:creationId xmlns:a16="http://schemas.microsoft.com/office/drawing/2014/main" id="{077F7C52-E825-4291-4F9C-24845D07D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248" y="1358874"/>
            <a:ext cx="4530213" cy="453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074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178</Words>
  <Application>Microsoft Macintosh PowerPoint</Application>
  <PresentationFormat>Widescreen</PresentationFormat>
  <Paragraphs>21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Masked Time-Series Transformers for Wrist IMU Motion Forecasting (CAPTURE‑24)</vt:lpstr>
      <vt:lpstr>Core Question </vt:lpstr>
      <vt:lpstr>Applications</vt:lpstr>
      <vt:lpstr>Evaluation</vt:lpstr>
      <vt:lpstr>MOCK graphs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Kallam, Yogeshvar Reddy</dc:creator>
  <cp:lastModifiedBy>Kallam, Yogeshvar Reddy</cp:lastModifiedBy>
  <cp:revision>3</cp:revision>
  <dcterms:created xsi:type="dcterms:W3CDTF">2025-10-25T02:01:50Z</dcterms:created>
  <dcterms:modified xsi:type="dcterms:W3CDTF">2025-10-25T03:08:43Z</dcterms:modified>
</cp:coreProperties>
</file>